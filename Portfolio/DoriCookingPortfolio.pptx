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dore The World 세계 여행" charset="1" panose="00020600040101010101"/>
      <p:regular r:id="rId26"/>
    </p:embeddedFont>
    <p:embeddedFont>
      <p:font typeface="Ancient signboards 간판" charset="1" panose="00020600040101010101"/>
      <p:regular r:id="rId27"/>
    </p:embeddedFont>
    <p:embeddedFont>
      <p:font typeface="HK Grotesk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JiwonEE2/DoriCooking" TargetMode="External" Type="http://schemas.openxmlformats.org/officeDocument/2006/relationships/hyperlink"/><Relationship Id="rId3" Target="https://spiky-swoop-4c9.notion.site/Dori-2db8543f0c924dc9b845292b5ba4e45e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99315" y="6404668"/>
            <a:ext cx="5670820" cy="2750709"/>
            <a:chOff x="0" y="0"/>
            <a:chExt cx="7561093" cy="366761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4105"/>
              <a:ext cx="7561093" cy="663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7"/>
                </a:lnSpc>
                <a:spcBef>
                  <a:spcPct val="0"/>
                </a:spcBef>
              </a:pPr>
              <a:r>
                <a:rPr lang="en-US" sz="2998" u="sng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  <a:hlinkClick r:id="rId2" tooltip="https://github.com/JiwonEE2/DoriCooking"/>
                </a:rPr>
                <a:t>github.com/JiwonEE2/DoriCooking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75610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GitHub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003976"/>
              <a:ext cx="7561093" cy="663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7"/>
                </a:lnSpc>
                <a:spcBef>
                  <a:spcPct val="0"/>
                </a:spcBef>
              </a:pPr>
              <a:r>
                <a:rPr lang="en-US" sz="2998" u="sng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  <a:hlinkClick r:id="rId3" tooltip="https://spiky-swoop-4c9.notion.site/Dori-2db8543f0c924dc9b845292b5ba4e45e"/>
                </a:rPr>
                <a:t>Dori’s Programming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01772"/>
              <a:ext cx="75610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Notion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3804"/>
            <a:ext cx="5579261" cy="3048802"/>
            <a:chOff x="0" y="0"/>
            <a:chExt cx="7439014" cy="40650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7439014" cy="35113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9679"/>
                </a:lnSpc>
              </a:pPr>
              <a:r>
                <a:rPr lang="en-US" sz="8799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요식업자로</a:t>
              </a:r>
            </a:p>
            <a:p>
              <a:pPr algn="r">
                <a:lnSpc>
                  <a:spcPts val="9679"/>
                </a:lnSpc>
              </a:pPr>
              <a:r>
                <a:rPr lang="en-US" sz="8799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살아남기</a:t>
              </a:r>
            </a:p>
          </p:txBody>
        </p:sp>
        <p:sp>
          <p:nvSpPr>
            <p:cNvPr name="AutoShape 9" id="9"/>
            <p:cNvSpPr/>
            <p:nvPr/>
          </p:nvSpPr>
          <p:spPr>
            <a:xfrm rot="0">
              <a:off x="0" y="3894381"/>
              <a:ext cx="451369" cy="170689"/>
            </a:xfrm>
            <a:prstGeom prst="rect">
              <a:avLst/>
            </a:prstGeom>
            <a:solidFill>
              <a:srgbClr val="292929"/>
            </a:solidFill>
          </p:spPr>
        </p:sp>
      </p:grpSp>
      <p:sp>
        <p:nvSpPr>
          <p:cNvPr name="AutoShape 10" id="10"/>
          <p:cNvSpPr/>
          <p:nvPr/>
        </p:nvSpPr>
        <p:spPr>
          <a:xfrm rot="0">
            <a:off x="75247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1" id="11"/>
          <p:cNvSpPr/>
          <p:nvPr/>
        </p:nvSpPr>
        <p:spPr>
          <a:xfrm rot="0">
            <a:off x="147256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2" id="12"/>
          <p:cNvSpPr/>
          <p:nvPr/>
        </p:nvSpPr>
        <p:spPr>
          <a:xfrm rot="0">
            <a:off x="-2199058" y="8030392"/>
            <a:ext cx="9742858" cy="17416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5918815" y="1119379"/>
            <a:ext cx="1340485" cy="5503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79"/>
              </a:lnSpc>
            </a:pPr>
            <a:r>
              <a:rPr lang="en-US" sz="8799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이지원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56687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3" id="3"/>
          <p:cNvSpPr/>
          <p:nvPr/>
        </p:nvSpPr>
        <p:spPr>
          <a:xfrm rot="0">
            <a:off x="8545142" y="5143500"/>
            <a:ext cx="9742858" cy="17416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4" id="4"/>
          <p:cNvSpPr/>
          <p:nvPr/>
        </p:nvSpPr>
        <p:spPr>
          <a:xfrm rot="0">
            <a:off x="8526092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9481557" y="8041910"/>
            <a:ext cx="5312561" cy="139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목차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5246" y="4701213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구현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5246" y="5961016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느낀점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5246" y="1042854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프로젝트 개요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2870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1" id="11"/>
          <p:cNvSpPr/>
          <p:nvPr/>
        </p:nvSpPr>
        <p:spPr>
          <a:xfrm rot="0">
            <a:off x="859437" y="1199172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2" id="12"/>
          <p:cNvSpPr/>
          <p:nvPr/>
        </p:nvSpPr>
        <p:spPr>
          <a:xfrm rot="0">
            <a:off x="859437" y="2336426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3" id="13"/>
          <p:cNvSpPr/>
          <p:nvPr/>
        </p:nvSpPr>
        <p:spPr>
          <a:xfrm rot="0">
            <a:off x="859437" y="353222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4" id="14"/>
          <p:cNvSpPr/>
          <p:nvPr/>
        </p:nvSpPr>
        <p:spPr>
          <a:xfrm rot="0">
            <a:off x="859437" y="485753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2015246" y="2180108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게임 진행 플로우 차트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5246" y="3439911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기능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859437" y="6117334"/>
            <a:ext cx="338527" cy="128017"/>
          </a:xfrm>
          <a:prstGeom prst="rect">
            <a:avLst/>
          </a:prstGeom>
          <a:solidFill>
            <a:srgbClr val="292929"/>
          </a:solid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81250" y="762000"/>
            <a:ext cx="5747020" cy="1546445"/>
            <a:chOff x="0" y="0"/>
            <a:chExt cx="7662693" cy="20619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4105"/>
              <a:ext cx="76626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자동 생산되는 요리를 손님에게 판매하고 빌런을 물리치며 식당을 성장시키는 게임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76626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목표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81250" y="4046428"/>
            <a:ext cx="5747020" cy="1089245"/>
            <a:chOff x="0" y="0"/>
            <a:chExt cx="7662693" cy="145232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4105"/>
              <a:ext cx="7662693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2D 탑뷰 식당 경영 시뮬레이션 게임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76626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장르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77529" y="762000"/>
            <a:ext cx="5747020" cy="1546445"/>
            <a:chOff x="0" y="0"/>
            <a:chExt cx="7662693" cy="206192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64105"/>
              <a:ext cx="76626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Unity 2022.3.50f1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Visual Studio 2022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76626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개발 환경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77529" y="4046390"/>
            <a:ext cx="5747020" cy="1089282"/>
            <a:chOff x="0" y="0"/>
            <a:chExt cx="7662693" cy="145237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64055"/>
              <a:ext cx="7662693" cy="588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개발 1인, 기획 1인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7662693" cy="676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개발 인원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16192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333301" y="409575"/>
            <a:ext cx="967179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프로젝트 개요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237193" y="9115425"/>
            <a:ext cx="1022107" cy="142875"/>
            <a:chOff x="0" y="0"/>
            <a:chExt cx="1362810" cy="190500"/>
          </a:xfrm>
        </p:grpSpPr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1708150" cy="17081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293403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880210" y="0"/>
              <a:ext cx="190500" cy="1905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1172310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7" id="27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529" y="6869222"/>
            <a:ext cx="5747020" cy="1089282"/>
            <a:chOff x="0" y="0"/>
            <a:chExt cx="7662693" cy="145237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864055"/>
              <a:ext cx="7662693" cy="588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2024.10.29 ~ 2024.11.08 (약 10일)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7662693" cy="676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개발 기간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6192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6457245" y="9106782"/>
            <a:ext cx="1021130" cy="151518"/>
            <a:chOff x="0" y="0"/>
            <a:chExt cx="1361507" cy="202024"/>
          </a:xfrm>
        </p:grpSpPr>
        <p:grpSp>
          <p:nvGrpSpPr>
            <p:cNvPr name="Group 4" id="4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1708150" cy="170815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11524"/>
              <a:ext cx="190500" cy="190500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585503" y="0"/>
              <a:ext cx="190500" cy="190500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2146826" y="569098"/>
            <a:ext cx="13994347" cy="9148805"/>
          </a:xfrm>
          <a:custGeom>
            <a:avLst/>
            <a:gdLst/>
            <a:ahLst/>
            <a:cxnLst/>
            <a:rect r="r" b="b" t="t" l="l"/>
            <a:pathLst>
              <a:path h="9148805" w="13994347">
                <a:moveTo>
                  <a:pt x="0" y="0"/>
                </a:moveTo>
                <a:lnTo>
                  <a:pt x="13994348" y="0"/>
                </a:lnTo>
                <a:lnTo>
                  <a:pt x="13994348" y="9148804"/>
                </a:lnTo>
                <a:lnTo>
                  <a:pt x="0" y="9148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3375" y="409575"/>
            <a:ext cx="967105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게임 진행 플로우 차트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56687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3" id="3"/>
          <p:cNvSpPr/>
          <p:nvPr/>
        </p:nvSpPr>
        <p:spPr>
          <a:xfrm rot="0">
            <a:off x="8545142" y="5143500"/>
            <a:ext cx="9742858" cy="17416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4" id="4"/>
          <p:cNvSpPr/>
          <p:nvPr/>
        </p:nvSpPr>
        <p:spPr>
          <a:xfrm rot="0">
            <a:off x="8526092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9481557" y="8041947"/>
            <a:ext cx="5312561" cy="139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기능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15246" y="4701213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소지가능 Object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5246" y="5961016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상호작용 Object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5246" y="7220819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추가적인 기능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15246" y="1042854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플레이어</a:t>
            </a:r>
          </a:p>
        </p:txBody>
      </p:sp>
      <p:sp>
        <p:nvSpPr>
          <p:cNvPr name="AutoShape 10" id="10"/>
          <p:cNvSpPr/>
          <p:nvPr/>
        </p:nvSpPr>
        <p:spPr>
          <a:xfrm rot="0">
            <a:off x="102870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1" id="11"/>
          <p:cNvSpPr/>
          <p:nvPr/>
        </p:nvSpPr>
        <p:spPr>
          <a:xfrm rot="0">
            <a:off x="859437" y="1199172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2" id="12"/>
          <p:cNvSpPr/>
          <p:nvPr/>
        </p:nvSpPr>
        <p:spPr>
          <a:xfrm rot="0">
            <a:off x="859437" y="2336426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3" id="13"/>
          <p:cNvSpPr/>
          <p:nvPr/>
        </p:nvSpPr>
        <p:spPr>
          <a:xfrm rot="0">
            <a:off x="859437" y="353222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4" id="14"/>
          <p:cNvSpPr/>
          <p:nvPr/>
        </p:nvSpPr>
        <p:spPr>
          <a:xfrm rot="0">
            <a:off x="859437" y="485753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15" id="15"/>
          <p:cNvSpPr txBox="true"/>
          <p:nvPr/>
        </p:nvSpPr>
        <p:spPr>
          <a:xfrm rot="0">
            <a:off x="2015246" y="2180108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손님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5246" y="3439911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빌런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859437" y="6117334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8" id="18"/>
          <p:cNvSpPr/>
          <p:nvPr/>
        </p:nvSpPr>
        <p:spPr>
          <a:xfrm rot="0">
            <a:off x="859437" y="7377137"/>
            <a:ext cx="338527" cy="128017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9" id="19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30" id="30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플레이어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371850"/>
            <a:ext cx="4299220" cy="1089319"/>
            <a:chOff x="0" y="0"/>
            <a:chExt cx="5732293" cy="145242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864105"/>
              <a:ext cx="5732293" cy="5883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상하좌우 네 방향으로 이동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이동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94390" y="3371850"/>
            <a:ext cx="4299220" cy="2461142"/>
            <a:chOff x="0" y="0"/>
            <a:chExt cx="5732293" cy="328152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음식, 돈, 쓰레기 총 3가지의 오브젝트 소지 가능하며, 한 번에 한 종류의 오브젝트를 소지. 소지한 오브젝트의 종류는 씬에 표시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Object 소지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60080" y="3371850"/>
            <a:ext cx="4299220" cy="1546445"/>
            <a:chOff x="0" y="0"/>
            <a:chExt cx="5732293" cy="20619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Cooker, Counter 등의 여러 Object들과 상호작용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Object와 상호작용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손님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76500" y="6191250"/>
            <a:ext cx="4299220" cy="1546445"/>
            <a:chOff x="0" y="0"/>
            <a:chExt cx="5732293" cy="20619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카운터 앞에 생성되며 랜덤한 수량의 음식을 요청하고 대기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생성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500" y="6191250"/>
            <a:ext cx="4299220" cy="1546445"/>
            <a:chOff x="0" y="0"/>
            <a:chExt cx="5732293" cy="20619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음식의 수량에 비례한 시간 동안 음식 섭취 후 쓰레기 생성 및 삭제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음식 섭취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0477500" y="3371850"/>
            <a:ext cx="4299220" cy="1546445"/>
            <a:chOff x="0" y="0"/>
            <a:chExt cx="5732293" cy="20619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음식을 받으면 비어있는 테이블을 탐색하여 해당 테이블로 이동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이동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76500" y="3371850"/>
            <a:ext cx="4299220" cy="1546445"/>
            <a:chOff x="0" y="0"/>
            <a:chExt cx="5732293" cy="206192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2종류의 손님이 존재하며, 가게 레벨에 따라 스폰 확률 변경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종류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7" id="27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빌런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55127" y="2914501"/>
            <a:ext cx="4299220" cy="2461142"/>
            <a:chOff x="0" y="0"/>
            <a:chExt cx="5732293" cy="328152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Counter에 나타나는 빌런으로 Count와의 상호작용(FoodSet, FoodDistribute, 손님 생성, 돈 가져가기)을 방해.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CounterVillian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90800" y="6051918"/>
            <a:ext cx="4299220" cy="3832966"/>
            <a:chOff x="0" y="0"/>
            <a:chExt cx="5732293" cy="511062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4246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MoneyBox에 나타나는 빌런으로 MoneyBox와의 상호작용(금고, 강화)를 방해하고, 30초 내에 제거되지 못할 시 가게 재정을 절반으로 줄이고 자동 삭제.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다른 빌런보다 삭제 대기 시간이 짧음.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MoneyBoxVillian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0055127" y="6051918"/>
            <a:ext cx="4299220" cy="2461142"/>
            <a:chOff x="0" y="0"/>
            <a:chExt cx="5732293" cy="328152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 삭제 시 확률에 따라 해당 Table에 나타나는 빌런으로 플레이어가 해당 Table의 쓰레기를 치우는 것을 방해.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TableVillian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90800" y="2914501"/>
            <a:ext cx="4299220" cy="2461142"/>
            <a:chOff x="0" y="0"/>
            <a:chExt cx="5732293" cy="328152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Cooker에 나타나는 빌런으로 Cooker에서 플레이어가 음식을 가져가는 것과 음식 생성을 방해.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CookerVillian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7" id="27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소지 가능 Object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960485" y="3371850"/>
            <a:ext cx="4299220" cy="2003645"/>
            <a:chOff x="0" y="0"/>
            <a:chExt cx="5732293" cy="26715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플레이어가 소지 가능하며, 손님이 섭취한 음식의 수량만큼 테이블에서 생성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Trash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6994390" y="3371850"/>
            <a:ext cx="4299220" cy="2003645"/>
            <a:chOff x="0" y="0"/>
            <a:chExt cx="5732293" cy="267152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4105"/>
              <a:ext cx="5732293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플레이어가 소지 가능하며, 손님이 요청한 음식의 수량만큼 Counter 좌측에 생성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Money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3371850"/>
            <a:ext cx="4299220" cy="2003645"/>
            <a:chOff x="0" y="0"/>
            <a:chExt cx="5732293" cy="26715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플레이어, 손님이 소지 가능하며, 손님 생성 시 랜덤한 수량으로 요청.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Food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상호작용 Object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4303" y="3533153"/>
            <a:ext cx="4299220" cy="1089245"/>
            <a:chOff x="0" y="0"/>
            <a:chExt cx="5732293" cy="14523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일정 주기로 음식이 생성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Cooker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70820" y="5887663"/>
            <a:ext cx="4299220" cy="1546445"/>
            <a:chOff x="0" y="0"/>
            <a:chExt cx="5732293" cy="20619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소지 가능한 Object를종류에 상관없이 삭제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Trashcan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944303" y="5746102"/>
            <a:ext cx="4299220" cy="1546445"/>
            <a:chOff x="0" y="0"/>
            <a:chExt cx="5732293" cy="206192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손님이 생성되는 위치이며 FoodSet과 FoodDistribute를 통해 상호작용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Counter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95779" y="5887663"/>
            <a:ext cx="4299220" cy="1546445"/>
            <a:chOff x="0" y="0"/>
            <a:chExt cx="5732293" cy="206192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Counter에 올려진 음식을 일정 시간마다 판매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FoodDistribute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97105" y="3459358"/>
            <a:ext cx="4299220" cy="1546445"/>
            <a:chOff x="0" y="0"/>
            <a:chExt cx="5732293" cy="206192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생성된 음식을 판매하기 전에 Counter에 올려두는 역할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FoodSet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70820" y="3371850"/>
            <a:ext cx="4299220" cy="1546445"/>
            <a:chOff x="0" y="0"/>
            <a:chExt cx="5732293" cy="206192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손님에 의해 생성된 돈을 넣어 사용가능한 돈으로 변환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MoneyBox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9" id="29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1" id="31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33" id="33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추가적인 기능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59113" y="3371850"/>
            <a:ext cx="4299220" cy="2460845"/>
            <a:chOff x="0" y="0"/>
            <a:chExt cx="5732293" cy="32811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24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ESC 키 입력을 받거나 우측 상단 일시정지 버튼 클릭을 통해 활성화하며 키보드 입력을 통해 커서 이동 및 엔터 키를 통한 행동 수행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일시정지 PopUp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11053925" y="3371850"/>
            <a:ext cx="4299220" cy="2003645"/>
            <a:chOff x="0" y="0"/>
            <a:chExt cx="5732293" cy="267152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4105"/>
              <a:ext cx="5732293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키보드 입력으로 커서 이동 및 엔터 키 입력 시 강화 조건(가게 재정)에 부합할 시 강화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강화 PopUp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1708150" cy="17081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1" id="21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5246" y="1042854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플레이어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56687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4" id="4"/>
          <p:cNvSpPr/>
          <p:nvPr/>
        </p:nvSpPr>
        <p:spPr>
          <a:xfrm rot="0">
            <a:off x="8545142" y="5143500"/>
            <a:ext cx="9742858" cy="17416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5" id="5"/>
          <p:cNvSpPr/>
          <p:nvPr/>
        </p:nvSpPr>
        <p:spPr>
          <a:xfrm rot="0">
            <a:off x="102870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6" id="6"/>
          <p:cNvSpPr/>
          <p:nvPr/>
        </p:nvSpPr>
        <p:spPr>
          <a:xfrm rot="0">
            <a:off x="8526092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9481557" y="8041910"/>
            <a:ext cx="5312561" cy="139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0"/>
              </a:lnSpc>
            </a:pPr>
            <a:r>
              <a:rPr lang="en-US" sz="8600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구현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859437" y="1199172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9" id="9"/>
          <p:cNvSpPr/>
          <p:nvPr/>
        </p:nvSpPr>
        <p:spPr>
          <a:xfrm rot="0">
            <a:off x="859437" y="2336426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0" id="10"/>
          <p:cNvSpPr/>
          <p:nvPr/>
        </p:nvSpPr>
        <p:spPr>
          <a:xfrm rot="0">
            <a:off x="859437" y="353222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1" id="11"/>
          <p:cNvSpPr/>
          <p:nvPr/>
        </p:nvSpPr>
        <p:spPr>
          <a:xfrm rot="0">
            <a:off x="859437" y="4857531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2015246" y="2180108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손님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15246" y="3439911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빌런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5246" y="4701213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상호작용 Object(1)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5246" y="5961016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상호작용 Object(2)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5246" y="7220819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Manager 및 Controller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5246" y="8480622"/>
            <a:ext cx="5747020" cy="45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추가적인 기능</a:t>
            </a:r>
          </a:p>
        </p:txBody>
      </p:sp>
      <p:sp>
        <p:nvSpPr>
          <p:cNvPr name="AutoShape 18" id="18"/>
          <p:cNvSpPr/>
          <p:nvPr/>
        </p:nvSpPr>
        <p:spPr>
          <a:xfrm rot="0">
            <a:off x="859437" y="6117334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19" id="19"/>
          <p:cNvSpPr/>
          <p:nvPr/>
        </p:nvSpPr>
        <p:spPr>
          <a:xfrm rot="0">
            <a:off x="859437" y="7377137"/>
            <a:ext cx="338527" cy="128017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20" id="20"/>
          <p:cNvSpPr/>
          <p:nvPr/>
        </p:nvSpPr>
        <p:spPr>
          <a:xfrm rot="0">
            <a:off x="859437" y="8636940"/>
            <a:ext cx="338527" cy="128017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21" id="21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32" id="32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플레이어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3995" y="3371850"/>
            <a:ext cx="4299220" cy="3375691"/>
            <a:chOff x="0" y="0"/>
            <a:chExt cx="5732293" cy="45009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864105"/>
              <a:ext cx="5732293" cy="363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Moving() 선언을 통해 TimeScale이 1일 경우, 이동.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Input.GetAxisRaw와 Input.GetButtonDown/Up 을 통해 애니메이션과 함께 4방향으로 이동하도록 구현.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이동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074785" y="3371552"/>
            <a:ext cx="4299220" cy="3375691"/>
            <a:chOff x="0" y="0"/>
            <a:chExt cx="5732293" cy="450092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4105"/>
              <a:ext cx="5732293" cy="363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통해 플레이어의 아이템이 돈이거나 없을 경우 가질 수 있는 만큼 가지고, 바닥의 돈을 삭제.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현재 아이템을 ITEM.MONEY로 설정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떨어진 돈 줍기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94390" y="3371850"/>
            <a:ext cx="4299220" cy="4747514"/>
            <a:chOff x="0" y="0"/>
            <a:chExt cx="5732293" cy="633001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64105"/>
              <a:ext cx="5732293" cy="5465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enum ITEM = { MONEY, FOOD, TRASH, NONE } 를 선언하여 현재 아이템 종류를 저장.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가진 object가 0개 이하일 때, 개수 0, ITEM.NONE 으로 설정.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GottenItemShow() 선언을 통해 현재 아이템이 </a:t>
              </a: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ITEM.NONE 이 아닐 때 말풍선과 함께 스프라이트 변경.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소지 Object 표시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5250" y="66601"/>
            <a:ext cx="4299220" cy="3375691"/>
            <a:chOff x="0" y="0"/>
            <a:chExt cx="5732293" cy="450092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4105"/>
              <a:ext cx="5732293" cy="363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FoodDistribute() 선언을 통해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음식 요구량이 부족한가?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Counter빌런이 없는가?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플레이어가 판매가능한 상태인가?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카운터에 음식이 있는가?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등 확인 후 수행.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음식 받기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5500" y="2769743"/>
            <a:ext cx="4299220" cy="4747514"/>
            <a:chOff x="0" y="0"/>
            <a:chExt cx="5732293" cy="63300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4105"/>
              <a:ext cx="5732293" cy="5465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손님의 생성 및 삭제 관리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CustomerSpawn() 선언을 통해 손님 생성. 손님 생성될 자리가 비어있고, 삭제된 지 1초가 지났을 경우 레벨에 따라 확률적으로 손님 생성CustomerDestroy() 선언을 통해 손님 삭제. 손님 객체에서 삭제될 준비가 되었다는 신호를 받으면 해당 손님 삭제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CustomerContoller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35000" y="66601"/>
            <a:ext cx="4299220" cy="2461142"/>
            <a:chOff x="0" y="0"/>
            <a:chExt cx="5732293" cy="32815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먹을 음식이 남아있는가?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IEnumerator EatCoroutine() 코루틴선언을 통해 일정 시간마다 음식 삭제 및 쓰레기 생성.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음식 섭취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35000" y="7480594"/>
            <a:ext cx="4299220" cy="2461142"/>
            <a:chOff x="0" y="0"/>
            <a:chExt cx="5732293" cy="32815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FoodRender() 선언을 통해 테이블에 도착하기 전까지 손님의 몸에 음식 스프라이트 표시하고, 도착 후에는 테이블에 표시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가진 음식 표시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95500" y="7709120"/>
            <a:ext cx="4299220" cy="2003868"/>
            <a:chOff x="0" y="0"/>
            <a:chExt cx="5732293" cy="267182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64105"/>
              <a:ext cx="5732293" cy="1807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OnCollisionEnter2D() 를 통해 충돌 발생 시 충돌 신호.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이동 중일 때만 이 신호로 정지.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충돌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15250" y="3589116"/>
            <a:ext cx="4299220" cy="2003868"/>
            <a:chOff x="0" y="0"/>
            <a:chExt cx="5732293" cy="267182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64105"/>
              <a:ext cx="5732293" cy="1807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음식을 받으면 준비된 테이블을 탐색하여 해당 손님의 테이블로 설정.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준비된 테이블 탐색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15250" y="5735859"/>
            <a:ext cx="4299220" cy="4271116"/>
            <a:chOff x="0" y="0"/>
            <a:chExt cx="5732293" cy="5694821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1448305"/>
              <a:ext cx="5732293" cy="42465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 생성 시간 초기화하고 기다리는 손님이 없음을 신호.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PayMoney() 선언을 통해 음식량만큼 돈 생성.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IEnumerator MovingCoroutine() 코루틴 선언을 통해 이동 구현.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이동 중 충돌 감지 시 1초 정지.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5732293" cy="12606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돈 내고 준비된 테이블로 이동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35000" y="3430586"/>
            <a:ext cx="4299220" cy="3375691"/>
            <a:chOff x="0" y="0"/>
            <a:chExt cx="5732293" cy="450092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864105"/>
              <a:ext cx="5732293" cy="3636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테이블에 쓰레기 표시.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현재 테이블을 쓰레기 테이블로 설정.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CustomerDestroy() 선언을 통해 Table빌런 생성을 위한 현재 테이블의 위치 반환 후 삭제 신호.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삭제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95500" y="66601"/>
            <a:ext cx="4299220" cy="2461142"/>
            <a:chOff x="0" y="0"/>
            <a:chExt cx="5732293" cy="328152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확장성을 위해 손님의 데이터를 Scriptable Object로 생성.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이름, 요청최대/최소 음식 개수, 표시될 스프라이트로 구성.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CustomerDataSO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0">
            <a:off x="16192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333301" y="409575"/>
            <a:ext cx="967179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손님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06325" y="9258300"/>
            <a:ext cx="1021130" cy="142875"/>
            <a:chOff x="0" y="0"/>
            <a:chExt cx="1361507" cy="190500"/>
          </a:xfrm>
        </p:grpSpPr>
        <p:grpSp>
          <p:nvGrpSpPr>
            <p:cNvPr name="Group 32" id="32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4" id="34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6" id="36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8" id="38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40" id="40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42" id="42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5250" y="523466"/>
            <a:ext cx="4299220" cy="5662063"/>
            <a:chOff x="0" y="0"/>
            <a:chExt cx="5732293" cy="754941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64105"/>
              <a:ext cx="5732293" cy="66853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4 종류의 빌런 구현을 위한 상위 클래스.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가상함수로 선언하여 플레이어가 영역에 들어와 있는 동안 Timer 시간에 따라 증가 후 지정해 둔 Time에 도달하면 삭제.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OnDisable() 을 가상함수로 선언하여 GameManager에 빌런이 없다고 신호. 이에 따라 UI에서 빌런 알림이 비활성화.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Villian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35000" y="6738753"/>
            <a:ext cx="4299220" cy="2003868"/>
            <a:chOff x="0" y="0"/>
            <a:chExt cx="5732293" cy="26718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4105"/>
              <a:ext cx="5732293" cy="1807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MoneyBox에 나타나는 빌런으로 Villian 클래스를 상속.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MoneyBoxVillian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35000" y="523726"/>
            <a:ext cx="4299220" cy="2461142"/>
            <a:chOff x="0" y="0"/>
            <a:chExt cx="5732293" cy="32815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Cooker에 나타나는 빌런으로 Villian 클래스를 상속.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두 Cooker의 상호작용 위치에 랜덤으로 생성.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CookerVillian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338445" y="3631240"/>
            <a:ext cx="4299220" cy="2461142"/>
            <a:chOff x="0" y="0"/>
            <a:chExt cx="5732293" cy="32815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64105"/>
              <a:ext cx="5732293" cy="2417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랜덤한 타이밍에 Counter에 나타나는 빌런으로 Villian 클래스를 상속.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손님이 있을 경우 다른 빌런이 생성.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CounterVillian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15250" y="6738753"/>
            <a:ext cx="4299220" cy="2918417"/>
            <a:chOff x="0" y="0"/>
            <a:chExt cx="5732293" cy="389122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64105"/>
              <a:ext cx="5732293" cy="3027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 삭제 시 확률에 따라 해당 Table에 나타나는 빌런으로 Villian 클래스를 상속.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 삭제 시의 테이블 번호를 받아 해당 손님이 있던 위치에 생성.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TableVillian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95500" y="523875"/>
            <a:ext cx="4299220" cy="7033886"/>
            <a:chOff x="0" y="0"/>
            <a:chExt cx="5732293" cy="937851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864105"/>
              <a:ext cx="5732293" cy="85144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빌런들은 모두 VillianSpawner에서 생성되며, 빌런들의 재생성 시간과 Table 빌런의 생성 확률 설정 가능.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enum VILLIAN = { COOKER, COUNTER, MONEYBOX, TABLE } 선언을 통해 현재 생성된 빌런의 타입을 결정하여 해당 행동 수행.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Timer를 돌리면서 재생성 시간에 도달하면 Cooker,Counter,MoneyBox빌런 셋 중 하나 랜덤으로 생성.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빌런 삭제 시 타이머 리셋.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Table 빌런의 경우, 손님 삭제 신호를 받으면 정해진 확률에 따라 Table빌런 생성.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VillianSpanwer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0">
            <a:off x="1619250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21" id="21"/>
          <p:cNvSpPr txBox="true"/>
          <p:nvPr/>
        </p:nvSpPr>
        <p:spPr>
          <a:xfrm rot="0">
            <a:off x="333301" y="409575"/>
            <a:ext cx="967179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빌런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06325" y="9258300"/>
            <a:ext cx="1021130" cy="142875"/>
            <a:chOff x="0" y="0"/>
            <a:chExt cx="1361507" cy="190500"/>
          </a:xfrm>
        </p:grpSpPr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9" id="29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1" id="31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33" id="33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상호작용 Object(1)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73658" y="3371478"/>
            <a:ext cx="4299220" cy="5204789"/>
            <a:chOff x="0" y="0"/>
            <a:chExt cx="5732293" cy="69397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60756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OnTriggerEnter2D() 를 통해 플레이어가 상호작용 영역에 들어왔고, Counter 빌런이 없을 경우 판매가능 신호를 true로 변경하고 판매 타이머 초기화.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OnTriggerExit2D() 를 통해 플레이어가 상호작용 영역에서 벗어났을 때 판매 가능 신호를 false로 변경.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강화 목록 중 자동판매 구현을 위해 bool 값을 선언.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FoodDistribute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94390" y="3371850"/>
            <a:ext cx="4299220" cy="4747514"/>
            <a:chOff x="0" y="0"/>
            <a:chExt cx="5732293" cy="633001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5465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통해 플레이어가 상호작용 영역에 머무를 때 플레이어의 현재 아이템이 FOOD이고, Counter빌런이 없을 경우 플레이어가 가진 만큼 넣되, 최대 재고를 넘지 않도록 구현.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FoodRender() 선언을 통해 재고가 1개 이상일 때 음식 스프라이트 표시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FoodSet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3995" y="3371850"/>
            <a:ext cx="4299220" cy="6119338"/>
            <a:chOff x="0" y="0"/>
            <a:chExt cx="5732293" cy="815911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64105"/>
              <a:ext cx="5732293" cy="7295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IEnermerator CookCorouine() 선언을 통해 Cooker 빌런이 없을 때 일정 시간 간격으로 음식 생성.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FoodRender() 선언을 통해 재고가 1이상일 때 음식 스프라이트 표시.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통해 Cooker 빌런이 없고, 플레이어가 상호작용 영역에 머무르고, 가진 아이템이 FOOD 이거나 NONE일 때 Cooker의 재고만큼 플레이어가 얻되, 플레이어가 가질 수 있는 만큼만 음식을 얻음.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Cooker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3" id="13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8" id="18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0" id="20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2" id="22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4" id="24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상호작용 Object(2)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3371850"/>
            <a:ext cx="4299220" cy="2918045"/>
            <a:chOff x="0" y="0"/>
            <a:chExt cx="5732293" cy="38907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3026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OnTriggerEnter2D() 를 통해 플레이어가 상호작용 영역에 들어왔을 때 MoneyBox빌런의 유무 확인 후 플레이어가 가진 돈을 가게 재정으로 변환.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MoneyBox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94390" y="3371850"/>
            <a:ext cx="4299220" cy="4746845"/>
            <a:chOff x="0" y="0"/>
            <a:chExt cx="5732293" cy="63291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5465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통해 플레이어가 상호작용 영역에 머무르고, Table 빌런이 없고, 플레이어의 아이템이 TRASH거나 NONE인 경우 쓰레기를 챙김.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쓰레기를 치우고, 손님이 할당되기 전 1초의 시간 지연을 위해 IEnumerator ReadyCheckCoroutine()을 선언.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Table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74785" y="3371850"/>
            <a:ext cx="4299220" cy="3832445"/>
            <a:chOff x="0" y="0"/>
            <a:chExt cx="5732293" cy="510992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64105"/>
              <a:ext cx="5732293" cy="424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OnTriggerEnter2D() 를 통해 타이머 초기화.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OnTriggerStay2D() 를 통해 타이버 증가.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타이머가 일정 시간 경과하면 타이머를 초기화하고 플레이어의 아이템 삭제.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Trashcan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6966170"/>
            <a:ext cx="4299220" cy="2460845"/>
            <a:chOff x="0" y="0"/>
            <a:chExt cx="5732293" cy="328112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64105"/>
              <a:ext cx="5732293" cy="24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OnTriggerEnter2D() 를 통해 플레이어가 상호작용 영역에 입장했을 때 강화창 활성화 및 TimeScale 을 0으로 설정.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Enforce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6" id="16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7" id="27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Manager 및 Controller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9333" y="3047888"/>
            <a:ext cx="4299220" cy="2003868"/>
            <a:chOff x="0" y="0"/>
            <a:chExt cx="5732293" cy="26718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18077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다양한 Manager와 Controller를 Singleton으로 구현하기 위한 상위 클래스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SingletonManager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9333" y="8423076"/>
            <a:ext cx="4299220" cy="1546445"/>
            <a:chOff x="0" y="0"/>
            <a:chExt cx="5732293" cy="20619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다양한 곳에서 참조할 Sprite를 할당하여 사용하기 위한 클래스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SpriteManager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9333" y="5278208"/>
            <a:ext cx="4299220" cy="2918417"/>
            <a:chOff x="0" y="0"/>
            <a:chExt cx="5732293" cy="389122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64105"/>
              <a:ext cx="5732293" cy="30271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여러 위치에서 접근이 필요한 값들을 선언하고, 타이머를 실행.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레벨에 따른 손님 확률 정보, 타이머, 판매자동화 여부 등의 값이 존재.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GameManager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96571" y="3138962"/>
            <a:ext cx="4299220" cy="6119338"/>
            <a:chOff x="0" y="0"/>
            <a:chExt cx="5732293" cy="815911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64105"/>
              <a:ext cx="5732293" cy="7295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빌런 생성 여부, 레벨, 소지금 등을 표시하고 일시정지 PopUp과 강화 PopUp을 관리.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강화 시 변경되는 값도 UIManager에서 선언되어 사용.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OnClickPauseButton() 선언을 통해 ESC 키 입력 외에도 버튼으로 일시정지 창 활성화 가능.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PauseGame() 선언을 통해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강화 PopUp이 활성화 상태면 비활성화, 비활성화 상태면 일시정지 PopUp을 활성화.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UIManager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93810" y="3048000"/>
            <a:ext cx="4299220" cy="1089245"/>
            <a:chOff x="0" y="0"/>
            <a:chExt cx="5732293" cy="145232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64105"/>
              <a:ext cx="5732293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손님의 생성 및 삭제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CustomerController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93810" y="4876800"/>
            <a:ext cx="4299220" cy="3832445"/>
            <a:chOff x="0" y="0"/>
            <a:chExt cx="5732293" cy="510992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64105"/>
              <a:ext cx="5732293" cy="424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준비된 테이블과 쓰레기가 있는 테이블을 리스트로 관리.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쓰레기 테이블에서 쓰레기가 없고, 준비가 되었다면 준비된 테이블로 변경.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준비된 테이블에서 쓰레기가 있다면 쓰레기 테이블로 변경.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TableController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22" id="22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29" id="29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31" id="31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33" id="33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7423420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>
                <a:solidFill>
                  <a:srgbClr val="292929"/>
                </a:solidFill>
                <a:latin typeface="Ancient signboards 간판"/>
                <a:ea typeface="Ancient signboards 간판"/>
                <a:cs typeface="Ancient signboards 간판"/>
                <a:sym typeface="Ancient signboards 간판"/>
              </a:rPr>
              <a:t>추가적인 기능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0" y="3810000"/>
            <a:ext cx="4299220" cy="3832445"/>
            <a:chOff x="0" y="0"/>
            <a:chExt cx="5732293" cy="51099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864105"/>
              <a:ext cx="5732293" cy="424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강화 PopUp이 활성화되었을 때 키보드로 입력을 받기 위한 클래스.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강화 가격 설정 가능.</a:t>
              </a:r>
            </a:p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GetKey() 선언을 통해 키 입력을 받고,</a:t>
              </a:r>
            </a:p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Move() 선언을 통해 커서 이동 구현.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EnforceCursor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667000" y="3810000"/>
            <a:ext cx="4299220" cy="2003645"/>
            <a:chOff x="0" y="0"/>
            <a:chExt cx="5732293" cy="26715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864105"/>
              <a:ext cx="5732293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292929"/>
                  </a:solidFill>
                  <a:latin typeface="Adore The World 세계 여행"/>
                  <a:ea typeface="Adore The World 세계 여행"/>
                  <a:cs typeface="Adore The World 세계 여행"/>
                  <a:sym typeface="Adore The World 세계 여행"/>
                </a:rPr>
                <a:t>일시정지 PopUp이 활성화되었을 때 키보드로 입력을 받기 위한 클래스.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732293" cy="676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PauseCursor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0">
            <a:off x="0" y="2676525"/>
            <a:ext cx="18288000" cy="19050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1708150" cy="17081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1" id="21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0087"/>
            <a:ext cx="6511480" cy="732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7"/>
              </a:lnSpc>
            </a:pPr>
            <a:r>
              <a:rPr lang="en-US" sz="2998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기획서를 바탕으로 게임을 개발하는 것이 처음이고 짧은 마감 기간때문에 구조를 대충만 생각하고 진행하였습니다.</a:t>
            </a:r>
          </a:p>
          <a:p>
            <a:pPr algn="l">
              <a:lnSpc>
                <a:spcPts val="4197"/>
              </a:lnSpc>
            </a:pPr>
            <a:r>
              <a:rPr lang="en-US" sz="2998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큰 그림을 보지 않고 아무거나 하나 씩 구현을 하니 뒤로 갈수록 예상치 못한 기능들을 추가해야 했고, 그때마다 구조가 크게크게 바뀌었습니다.</a:t>
            </a:r>
          </a:p>
          <a:p>
            <a:pPr algn="l">
              <a:lnSpc>
                <a:spcPts val="4197"/>
              </a:lnSpc>
            </a:pPr>
            <a:r>
              <a:rPr lang="en-US" sz="2998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처음에는 빠르게 진행하였지만, 속도는 점점 느려지고 코드는 일관성이 없어졌습니다.</a:t>
            </a:r>
          </a:p>
          <a:p>
            <a:pPr algn="l">
              <a:lnSpc>
                <a:spcPts val="4197"/>
              </a:lnSpc>
            </a:pPr>
            <a:r>
              <a:rPr lang="en-US" sz="2998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이에 프로젝트 시작 전 클래스 다이어그램, 플로우 차트 등을 귀찮더라도 꼭 만들어보고 진행하면 좋겠다고 뼈저리게 느꼈습니다.</a:t>
            </a:r>
          </a:p>
          <a:p>
            <a:pPr algn="l">
              <a:lnSpc>
                <a:spcPts val="4197"/>
              </a:lnSpc>
            </a:pPr>
            <a:r>
              <a:rPr lang="en-US" sz="2998">
                <a:solidFill>
                  <a:srgbClr val="292929"/>
                </a:solidFill>
                <a:latin typeface="Adore The World 세계 여행"/>
                <a:ea typeface="Adore The World 세계 여행"/>
                <a:cs typeface="Adore The World 세계 여행"/>
                <a:sym typeface="Adore The World 세계 여행"/>
              </a:rPr>
              <a:t>감사합니다.</a:t>
            </a:r>
          </a:p>
          <a:p>
            <a:pPr algn="l">
              <a:lnSpc>
                <a:spcPts val="4197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970620" y="8883385"/>
            <a:ext cx="2628382" cy="39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19657" y="2839279"/>
            <a:ext cx="5579261" cy="1820077"/>
            <a:chOff x="0" y="0"/>
            <a:chExt cx="7439014" cy="242677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85725"/>
              <a:ext cx="7439014" cy="1873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79"/>
                </a:lnSpc>
              </a:pPr>
              <a:r>
                <a:rPr lang="en-US" sz="8799">
                  <a:solidFill>
                    <a:srgbClr val="292929"/>
                  </a:solidFill>
                  <a:latin typeface="Ancient signboards 간판"/>
                  <a:ea typeface="Ancient signboards 간판"/>
                  <a:cs typeface="Ancient signboards 간판"/>
                  <a:sym typeface="Ancient signboards 간판"/>
                </a:rPr>
                <a:t>느낀점</a:t>
              </a:r>
            </a:p>
          </p:txBody>
        </p:sp>
        <p:sp>
          <p:nvSpPr>
            <p:cNvPr name="AutoShape 6" id="6"/>
            <p:cNvSpPr/>
            <p:nvPr/>
          </p:nvSpPr>
          <p:spPr>
            <a:xfrm rot="0">
              <a:off x="0" y="2256081"/>
              <a:ext cx="451369" cy="170689"/>
            </a:xfrm>
            <a:prstGeom prst="rect">
              <a:avLst/>
            </a:prstGeom>
            <a:solidFill>
              <a:srgbClr val="292929"/>
            </a:solidFill>
          </p:spPr>
        </p:sp>
      </p:grpSp>
      <p:sp>
        <p:nvSpPr>
          <p:cNvPr name="AutoShape 7" id="7"/>
          <p:cNvSpPr/>
          <p:nvPr/>
        </p:nvSpPr>
        <p:spPr>
          <a:xfrm rot="0">
            <a:off x="8526092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8" id="8"/>
          <p:cNvSpPr/>
          <p:nvPr/>
        </p:nvSpPr>
        <p:spPr>
          <a:xfrm rot="0">
            <a:off x="15715595" y="0"/>
            <a:ext cx="19050" cy="10287000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AutoShape 9" id="9"/>
          <p:cNvSpPr/>
          <p:nvPr/>
        </p:nvSpPr>
        <p:spPr>
          <a:xfrm rot="0">
            <a:off x="8545142" y="7121578"/>
            <a:ext cx="9742858" cy="17416"/>
          </a:xfrm>
          <a:prstGeom prst="rect">
            <a:avLst/>
          </a:prstGeom>
          <a:solidFill>
            <a:srgbClr val="292929"/>
          </a:solidFill>
        </p:spPr>
      </p:sp>
      <p:grpSp>
        <p:nvGrpSpPr>
          <p:cNvPr name="Group 10" id="10"/>
          <p:cNvGrpSpPr/>
          <p:nvPr/>
        </p:nvGrpSpPr>
        <p:grpSpPr>
          <a:xfrm rot="0">
            <a:off x="16457245" y="9106782"/>
            <a:ext cx="1021130" cy="142875"/>
            <a:chOff x="0" y="0"/>
            <a:chExt cx="1361507" cy="190500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1171007" y="0"/>
              <a:ext cx="190500" cy="190500"/>
              <a:chOff x="0" y="0"/>
              <a:chExt cx="1708150" cy="17081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708150" cy="1708150"/>
              </a:xfrm>
              <a:custGeom>
                <a:avLst/>
                <a:gdLst/>
                <a:ahLst/>
                <a:cxnLst/>
                <a:rect r="r" b="b" t="t" l="l"/>
                <a:pathLst>
                  <a:path h="1708150" w="1708150">
                    <a:moveTo>
                      <a:pt x="853440" y="1708150"/>
                    </a:moveTo>
                    <a:cubicBezTo>
                      <a:pt x="383540" y="1708150"/>
                      <a:pt x="0" y="1324610"/>
                      <a:pt x="0" y="853440"/>
                    </a:cubicBezTo>
                    <a:cubicBezTo>
                      <a:pt x="0" y="383540"/>
                      <a:pt x="383540" y="0"/>
                      <a:pt x="853440" y="0"/>
                    </a:cubicBezTo>
                    <a:cubicBezTo>
                      <a:pt x="1324610" y="0"/>
                      <a:pt x="1706880" y="383540"/>
                      <a:pt x="1706880" y="853440"/>
                    </a:cubicBezTo>
                    <a:cubicBezTo>
                      <a:pt x="1708150" y="1324610"/>
                      <a:pt x="1324610" y="1708150"/>
                      <a:pt x="853440" y="1708150"/>
                    </a:cubicBezTo>
                    <a:close/>
                    <a:moveTo>
                      <a:pt x="853440" y="469900"/>
                    </a:moveTo>
                    <a:cubicBezTo>
                      <a:pt x="642620" y="469900"/>
                      <a:pt x="469900" y="642620"/>
                      <a:pt x="469900" y="853440"/>
                    </a:cubicBezTo>
                    <a:cubicBezTo>
                      <a:pt x="469900" y="1064260"/>
                      <a:pt x="642620" y="1236980"/>
                      <a:pt x="853440" y="1236980"/>
                    </a:cubicBezTo>
                    <a:cubicBezTo>
                      <a:pt x="1064260" y="1236980"/>
                      <a:pt x="1236980" y="1064260"/>
                      <a:pt x="1236980" y="853440"/>
                    </a:cubicBezTo>
                    <a:cubicBezTo>
                      <a:pt x="1236980" y="642620"/>
                      <a:pt x="1065530" y="469900"/>
                      <a:pt x="853440" y="46990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292100" y="0"/>
              <a:ext cx="190500" cy="190500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5" id="15"/>
            <p:cNvGrpSpPr>
              <a:grpSpLocks noChangeAspect="true"/>
            </p:cNvGrpSpPr>
            <p:nvPr/>
          </p:nvGrpSpPr>
          <p:grpSpPr>
            <a:xfrm rot="0">
              <a:off x="586807" y="0"/>
              <a:ext cx="190500" cy="190500"/>
              <a:chOff x="0" y="0"/>
              <a:chExt cx="6350000" cy="6350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7" id="17"/>
            <p:cNvGrpSpPr>
              <a:grpSpLocks noChangeAspect="true"/>
            </p:cNvGrpSpPr>
            <p:nvPr/>
          </p:nvGrpSpPr>
          <p:grpSpPr>
            <a:xfrm rot="0">
              <a:off x="0" y="0"/>
              <a:ext cx="190500" cy="190500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0">
              <a:off x="878907" y="0"/>
              <a:ext cx="190500" cy="1905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4928870" y="0"/>
                      <a:pt x="6350000" y="1421130"/>
                      <a:pt x="6350000" y="3175000"/>
                    </a:cubicBezTo>
                    <a:cubicBezTo>
                      <a:pt x="6350000" y="4928870"/>
                      <a:pt x="4928870" y="6350000"/>
                      <a:pt x="3175000" y="6350000"/>
                    </a:cubicBezTo>
                    <a:cubicBezTo>
                      <a:pt x="1421130" y="6350000"/>
                      <a:pt x="0" y="4928870"/>
                      <a:pt x="0" y="3175000"/>
                    </a:cubicBezTo>
                    <a:cubicBezTo>
                      <a:pt x="0" y="1421130"/>
                      <a:pt x="1421130" y="0"/>
                      <a:pt x="3175000" y="0"/>
                    </a:cubicBezTo>
                    <a:close/>
                  </a:path>
                </a:pathLst>
              </a:custGeom>
              <a:solidFill>
                <a:srgbClr val="292929"/>
              </a:solidFill>
            </p:spPr>
          </p:sp>
        </p:grpSp>
      </p:grpSp>
      <p:sp>
        <p:nvSpPr>
          <p:cNvPr name="TextBox 21" id="21"/>
          <p:cNvSpPr txBox="true"/>
          <p:nvPr/>
        </p:nvSpPr>
        <p:spPr>
          <a:xfrm rot="0">
            <a:off x="16973809" y="629594"/>
            <a:ext cx="2628382" cy="399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DAGWFz7EASY</dc:identifier>
  <dcterms:modified xsi:type="dcterms:W3CDTF">2011-08-01T06:04:30Z</dcterms:modified>
  <cp:revision>1</cp:revision>
  <dc:title>이름 : 요식업자로 살아남기 장르 : 식당 경영 시뮬레이션 게임 엔진 : 유니티 목표 : 빌런을 쫓아내고 손님들에게 음식을 판매하며 가게를 성장 시키는 게임의 사본</dc:title>
</cp:coreProperties>
</file>